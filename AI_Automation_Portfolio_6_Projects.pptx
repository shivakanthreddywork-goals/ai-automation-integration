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700" b="1">
                <a:solidFill>
                  <a:srgbClr val="F6F9FD"/>
                </a:solidFill>
                <a:latin typeface="Aptos"/>
              </a:rPr>
              <a:t>AI Lead Generation &amp; CRM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10642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BECADC"/>
                </a:solidFill>
                <a:latin typeface="Aptos"/>
              </a:rPr>
              <a:t>Turn incoming enquiries into organized, sales-ready leads.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2356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FFC75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5074920" cy="7498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F6F9FD"/>
                </a:solidFill>
                <a:latin typeface="Aptos"/>
              </a:rPr>
              <a:t>Teams lose time reading enquiries, qualifying prospects and updating CRM records manually.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WHAT THE DEMO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38728"/>
            <a:ext cx="5074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Capture lead details through an API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Apply transparent lead-scoring rules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Store records in SQLite (demo)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Generate follow-up email drafts for 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874519"/>
            <a:ext cx="534924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1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WHO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F6F9FD"/>
                </a:solidFill>
                <a:latin typeface="Aptos"/>
              </a:rPr>
              <a:t>Marketing agencies • Recruiters • B2B service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55264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F6F9FD"/>
                </a:solidFill>
                <a:latin typeface="Aptos"/>
              </a:rPr>
              <a:t>Less repetitive data entry; faster, more consistent lead triage.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1363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Python • FastAPI • Pydantic • SQLite • REST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68112"/>
            <a:ext cx="11183112" cy="822960"/>
          </a:xfrm>
          <a:prstGeom prst="roundRect">
            <a:avLst/>
          </a:prstGeom>
          <a:solidFill>
            <a:srgbClr val="183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1143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47D2DC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577840"/>
            <a:ext cx="95097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Add n8n webhook, CRM sandbox integration, duplicate detection and secure authentication.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BECADC"/>
                </a:solidFill>
                <a:latin typeface="Aptos"/>
              </a:rPr>
              <a:t>AI AUTOMATION PORTFOLIO  •  DEMO / STARTER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73952"/>
            <a:ext cx="1737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ECADC"/>
                </a:solidFill>
                <a:latin typeface="Aptos"/>
              </a:rPr>
              <a:t>Portfolio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700" b="1">
                <a:solidFill>
                  <a:srgbClr val="F6F9FD"/>
                </a:solidFill>
                <a:latin typeface="Aptos"/>
              </a:rPr>
              <a:t>AI Customer Support Draft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10642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BECADC"/>
                </a:solidFill>
                <a:latin typeface="Aptos"/>
              </a:rPr>
              <a:t>Classify support requests and draft policy-aware replies.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2356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FFC75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5074920" cy="7498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F6F9FD"/>
                </a:solidFill>
                <a:latin typeface="Aptos"/>
              </a:rPr>
              <a:t>Support teams repeatedly answer common questions and need to route sensitive issues to people.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WHAT THE DEMO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38728"/>
            <a:ext cx="5074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Classify incoming tickets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Retrieve relevant sample policy content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Draft a customer reply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Escalate urgent or unmatched cases for human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874519"/>
            <a:ext cx="534924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1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WHO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F6F9FD"/>
                </a:solidFill>
                <a:latin typeface="Aptos"/>
              </a:rPr>
              <a:t>E-commerce • SaaS • Online service businesses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55264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F6F9FD"/>
                </a:solidFill>
                <a:latin typeface="Aptos"/>
              </a:rPr>
              <a:t>Faster first drafts while keeping a human in control of customer responses.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1363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Python • FastAPI • JSON knowledge base • Pydantic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68112"/>
            <a:ext cx="11183112" cy="822960"/>
          </a:xfrm>
          <a:prstGeom prst="roundRect">
            <a:avLst/>
          </a:prstGeom>
          <a:solidFill>
            <a:srgbClr val="183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1143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47D2DC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577840"/>
            <a:ext cx="95097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Connect a helpdesk sandbox, add retrieval evaluation, access controls and approved-policy ingestion.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BECADC"/>
                </a:solidFill>
                <a:latin typeface="Aptos"/>
              </a:rPr>
              <a:t>AI AUTOMATION PORTFOLIO  •  DEMO / STARTER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73952"/>
            <a:ext cx="1737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ECADC"/>
                </a:solidFill>
                <a:latin typeface="Aptos"/>
              </a:rPr>
              <a:t>Portfolio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PROJECT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700" b="1">
                <a:solidFill>
                  <a:srgbClr val="F6F9FD"/>
                </a:solidFill>
                <a:latin typeface="Aptos"/>
              </a:rPr>
              <a:t>AI Document Processing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10642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BECADC"/>
                </a:solidFill>
                <a:latin typeface="Aptos"/>
              </a:rPr>
              <a:t>Convert document data into structured records with validation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2356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FFC75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5074920" cy="7498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F6F9FD"/>
                </a:solidFill>
                <a:latin typeface="Aptos"/>
              </a:rPr>
              <a:t>Invoice and operations teams manually enter fields and check whether totals reconcile.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WHAT THE DEMO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38728"/>
            <a:ext cx="5074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Accept structured invoice fields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Validate line-item subtotals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Check subtotal plus tax against total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Flag mismatches for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874519"/>
            <a:ext cx="534924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1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WHO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F6F9FD"/>
                </a:solidFill>
                <a:latin typeface="Aptos"/>
              </a:rPr>
              <a:t>Finance operations • Procurement teams • Back-office service providers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55264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F6F9FD"/>
                </a:solidFill>
                <a:latin typeface="Aptos"/>
              </a:rPr>
              <a:t>A clear validation step before data enters downstream business systems.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1363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Python • FastAPI • Pydantic • Decimal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68112"/>
            <a:ext cx="11183112" cy="822960"/>
          </a:xfrm>
          <a:prstGeom prst="roundRect">
            <a:avLst/>
          </a:prstGeom>
          <a:solidFill>
            <a:srgbClr val="183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1143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47D2DC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577840"/>
            <a:ext cx="95097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Add PDF/OCR extraction, duplicate detection, confidence scores and secure review queues.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BECADC"/>
                </a:solidFill>
                <a:latin typeface="Aptos"/>
              </a:rPr>
              <a:t>AI AUTOMATION PORTFOLIO  •  DEMO / STARTER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73952"/>
            <a:ext cx="1737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ECADC"/>
                </a:solidFill>
                <a:latin typeface="Aptos"/>
              </a:rPr>
              <a:t>Portfolio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PROJECT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700" b="1">
                <a:solidFill>
                  <a:srgbClr val="F6F9FD"/>
                </a:solidFill>
                <a:latin typeface="Aptos"/>
              </a:rPr>
              <a:t>Business Knowledge Retrieval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10642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BECADC"/>
                </a:solidFill>
                <a:latin typeface="Aptos"/>
              </a:rPr>
              <a:t>Find relevant answers in a collection of company documents.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2356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FFC75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5074920" cy="7498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F6F9FD"/>
                </a:solidFill>
                <a:latin typeface="Aptos"/>
              </a:rPr>
              <a:t>Employees spend time searching policies and internal documentation for specific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WHAT THE DEMO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38728"/>
            <a:ext cx="5074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Index a small sample document set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Rank passages using TF-IDF retrieval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Return relevant excerpts and source IDs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Indicate when no relevant passage is found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874519"/>
            <a:ext cx="534924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1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WHO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F6F9FD"/>
                </a:solidFill>
                <a:latin typeface="Aptos"/>
              </a:rPr>
              <a:t>Consultancies • HR teams • Internal operations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55264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F6F9FD"/>
                </a:solidFill>
                <a:latin typeface="Aptos"/>
              </a:rPr>
              <a:t>A transparent retrieval baseline with traceable source excerpts.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1363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Python • FastAPI • scikit-learn • TF-IDF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68112"/>
            <a:ext cx="11183112" cy="822960"/>
          </a:xfrm>
          <a:prstGeom prst="roundRect">
            <a:avLst/>
          </a:prstGeom>
          <a:solidFill>
            <a:srgbClr val="183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1143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47D2DC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577840"/>
            <a:ext cx="95097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Replace TF-IDF with embeddings/vector search; add permissions, citations and retrieval evaluation.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BECADC"/>
                </a:solidFill>
                <a:latin typeface="Aptos"/>
              </a:rPr>
              <a:t>AI AUTOMATION PORTFOLIO  •  DEMO / STARTER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73952"/>
            <a:ext cx="1737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ECADC"/>
                </a:solidFill>
                <a:latin typeface="Aptos"/>
              </a:rPr>
              <a:t>Portfolio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PROJECT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700" b="1">
                <a:solidFill>
                  <a:srgbClr val="F6F9FD"/>
                </a:solidFill>
                <a:latin typeface="Aptos"/>
              </a:rPr>
              <a:t>Safe Natural-Language Data Analyst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10642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BECADC"/>
                </a:solidFill>
                <a:latin typeface="Aptos"/>
              </a:rPr>
              <a:t>Ask business questions and get answers from sample sales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2356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FFC75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5074920" cy="7498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F6F9FD"/>
                </a:solidFill>
                <a:latin typeface="Aptos"/>
              </a:rPr>
              <a:t>Non-technical users need quick summaries without writing SQL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WHAT THE DEMO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38728"/>
            <a:ext cx="5074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Recognize a small set of supported questions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Run predefined read-only SQL queries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Summarize revenue by product, region or quarter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Return structured results with clear limitations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874519"/>
            <a:ext cx="534924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1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WHO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F6F9FD"/>
                </a:solidFill>
                <a:latin typeface="Aptos"/>
              </a:rPr>
              <a:t>Small businesses • Sales teams • Analytics consultancies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55264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F6F9FD"/>
                </a:solidFill>
                <a:latin typeface="Aptos"/>
              </a:rPr>
              <a:t>Demonstrates a safer starting point than executing arbitrary model-generated SQL.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1363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Python • FastAPI • SQLite •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68112"/>
            <a:ext cx="11183112" cy="822960"/>
          </a:xfrm>
          <a:prstGeom prst="roundRect">
            <a:avLst/>
          </a:prstGeom>
          <a:solidFill>
            <a:srgbClr val="183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1143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47D2DC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577840"/>
            <a:ext cx="95097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Add schema-aware query planning, validation, role-based access, query limits and dashboard charts.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BECADC"/>
                </a:solidFill>
                <a:latin typeface="Aptos"/>
              </a:rPr>
              <a:t>AI AUTOMATION PORTFOLIO  •  DEMO / STARTER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73952"/>
            <a:ext cx="1737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ECADC"/>
                </a:solidFill>
                <a:latin typeface="Aptos"/>
              </a:rPr>
              <a:t>Portfolio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PROJECT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1155680" cy="56692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700" b="1">
                <a:solidFill>
                  <a:srgbClr val="F6F9FD"/>
                </a:solidFill>
                <a:latin typeface="Aptos"/>
              </a:rPr>
              <a:t>Source-Traceable Research Report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98448"/>
            <a:ext cx="110642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BECADC"/>
                </a:solidFill>
                <a:latin typeface="Aptos"/>
              </a:rPr>
              <a:t>Turn supplied research notes into a structured, reviewable report draft.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562356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FFC75F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5074920" cy="7498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500" b="0">
                <a:solidFill>
                  <a:srgbClr val="F6F9FD"/>
                </a:solidFill>
                <a:latin typeface="Aptos"/>
              </a:rPr>
              <a:t>Research and consulting workflows need organized evidence, source tracking and clear gaps.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18688"/>
            <a:ext cx="512064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WHAT THE DEMO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38728"/>
            <a:ext cx="5074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Accept a research question and source notes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Retain source IDs and URLs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Assemble a Markdown report draft</a:t>
            </a:r>
          </a:p>
          <a:p>
            <a:pPr>
              <a:spcAft>
                <a:spcPts val="500"/>
              </a:spcAft>
              <a:defRPr sz="1300">
                <a:solidFill>
                  <a:srgbClr val="F6F9FD"/>
                </a:solidFill>
                <a:latin typeface="Aptos"/>
              </a:defRPr>
            </a:pPr>
            <a:r>
              <a:t>•  Explicitly flag verification gaps and limitations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874519"/>
            <a:ext cx="5349240" cy="3401568"/>
          </a:xfrm>
          <a:prstGeom prst="roundRect">
            <a:avLst/>
          </a:prstGeom>
          <a:solidFill>
            <a:srgbClr val="1E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1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WHO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4800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F6F9FD"/>
                </a:solidFill>
                <a:latin typeface="Aptos"/>
              </a:rPr>
              <a:t>Consultants • Business development teams • Research agencies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5351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68DCA6"/>
                </a:solidFill>
                <a:latin typeface="Aptos"/>
              </a:rP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55264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300" b="0">
                <a:solidFill>
                  <a:srgbClr val="F6F9FD"/>
                </a:solidFill>
                <a:latin typeface="Aptos"/>
              </a:rPr>
              <a:t>A traceable report scaffold that avoids pretending unverified sources were checked.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13632"/>
            <a:ext cx="4846320" cy="29260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47D2DC"/>
                </a:solidFill>
                <a:latin typeface="Aptos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800600" cy="5943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Python • FastAPI • Pydantic • Source metadata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468112"/>
            <a:ext cx="11183112" cy="822960"/>
          </a:xfrm>
          <a:prstGeom prst="roundRect">
            <a:avLst/>
          </a:prstGeom>
          <a:solidFill>
            <a:srgbClr val="183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1143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000" b="1">
                <a:solidFill>
                  <a:srgbClr val="47D2DC"/>
                </a:solidFill>
                <a:latin typeface="Aptos"/>
              </a:rPr>
              <a:t>NEXT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577840"/>
            <a:ext cx="9509760" cy="47548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200" b="0">
                <a:solidFill>
                  <a:srgbClr val="F6F9FD"/>
                </a:solidFill>
                <a:latin typeface="Aptos"/>
              </a:rPr>
              <a:t>Integrate an approved search provider, store timestamps, verify citations and add human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80467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BECADC"/>
                </a:solidFill>
                <a:latin typeface="Aptos"/>
              </a:rPr>
              <a:t>AI AUTOMATION PORTFOLIO  •  DEMO / STARTER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473952"/>
            <a:ext cx="17373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/>
            <a:r>
              <a:rPr sz="800" b="0">
                <a:solidFill>
                  <a:srgbClr val="BECADC"/>
                </a:solidFill>
                <a:latin typeface="Aptos"/>
              </a:rPr>
              <a:t>Portfolio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